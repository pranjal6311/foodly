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alibri"/>
              </a:defRPr>
            </a:pPr>
            <a:r>
              <a:t>A MINI PROJECT REPORT PRESENTATION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FOODLY: INTELLIGENT CAMPUS FOOD DISCOVERY &amp; REAL-TIME LOGISTICS PLATFORM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  <a:latin typeface="Calibri"/>
              </a:defRPr>
            </a:pPr>
            <a:r>
              <a:t>A Hyper-Optimized Full-Stack Web Architecture with Haversine Spatial Dispatch &amp; Low-Latency SSE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493776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PRESENTED BY (STUDENT TEAM):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Priyanshu Verma (Roll No: 2301920100256)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Shashwat Mishra (Roll No: 2301920100305)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Pratyush Kashyap (Roll No: 2301920100251)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Sakshi Sharma (Roll No: 2301920100281)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0292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UNDER THE SUPERVISION OF: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Dr. Nikhil Sharma</a:t>
            </a:r>
          </a:p>
          <a:p>
            <a:pPr>
              <a:spcBef>
                <a:spcPts val="300"/>
              </a:spcBef>
              <a:defRPr sz="1100" b="0">
                <a:solidFill>
                  <a:srgbClr val="CBD5E1"/>
                </a:solidFill>
              </a:defRPr>
            </a:pPr>
            <a:r>
              <a:t>Assistant Professor, Department of CSE</a:t>
            </a:r>
          </a:p>
          <a:p>
            <a:pPr>
              <a:spcBef>
                <a:spcPts val="300"/>
              </a:spcBef>
              <a:defRPr sz="1050" b="0">
                <a:solidFill>
                  <a:srgbClr val="CBD5E1"/>
                </a:solidFill>
              </a:defRPr>
            </a:pPr>
            <a:r>
              <a:t>Head of Department: Dr. Sansar Singh Chauhan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G. L. BAJAJ INSTITUTE OF TECHNOLOGY &amp; MANAGEMENT</a:t>
            </a:r>
          </a:p>
          <a:p>
            <a:pPr>
              <a:spcBef>
                <a:spcPts val="300"/>
              </a:spcBef>
              <a:defRPr sz="1000" b="0">
                <a:solidFill>
                  <a:srgbClr val="CBD5E1"/>
                </a:solidFill>
              </a:defRPr>
            </a:pPr>
            <a:r>
              <a:t>Affiliated to Dr. A.P.J. Abdul Kalam Technical University (AKTU), Lucknow</a:t>
            </a:r>
          </a:p>
          <a:p>
            <a:pPr>
              <a:spcBef>
                <a:spcPts val="300"/>
              </a:spcBef>
              <a:defRPr sz="1100" b="1">
                <a:solidFill>
                  <a:srgbClr val="D97706"/>
                </a:solidFill>
              </a:defRPr>
            </a:pPr>
            <a:r>
              <a:t>Academic Session: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Overview &amp;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400" b="1">
                <a:solidFill>
                  <a:srgbClr val="C22026"/>
                </a:solidFill>
              </a:defRPr>
            </a:pPr>
            <a:r>
              <a:t>Campus-First On-Demand Food Platform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A tailored digital commerce ecosystem engineered specifically for universities and student housing clusters like G.L. Bajaj and Knowledge Park III, eliminating monopolistic markups.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Zero-Framework Lightweight Engineering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Built entirely with native Vanilla ES6+ JavaScript, CSS3 design tokens, and Node.js. Delivers a microscopic 145 KB bundle size (98.7% smaller than React/Angular apps) with instant page 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2004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Real-Time Telemetry &amp; Spatial Math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Features server-side spherical Haversine distance computations for dynamic pricing, alongside unidirectional Server-Sent Events (SSE) streaming driver coordinates every 1.5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Statement: Critical Gaps in Commercial Aggregators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3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C22026"/>
                </a:solidFill>
              </a:defRPr>
            </a:pPr>
            <a:r>
              <a:t>1. Monopolistic 25%–40% Commission Markups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Commercial platforms impose massive commissions on restaurants, which are passed directly to students as inflated item prices, packaging fees, and platform surcharges.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C22026"/>
                </a:solidFill>
              </a:defRPr>
            </a:pPr>
            <a:r>
              <a:t>2. Redundant Deliveries &amp; High Gate Congestion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Multiple couriers make individual trips to identical student hostels (Block A, B, D), resulting in severe campus security friction, delayed handoffs, and repeated delivery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C22026"/>
                </a:solidFill>
              </a:defRPr>
            </a:pPr>
            <a:r>
              <a:t>3. Severe Client-Side Framework Bloat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Contemporary aggregator applications require heavy 12–15 MB JavaScript bundles, causing noticeable battery drain, sluggish responsiveness, and high cart abandonment on mobile.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728655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C22026"/>
                </a:solidFill>
              </a:defRPr>
            </a:pPr>
            <a:r>
              <a:t>4. Inefficient HTTP Polling &amp; Coordinate Drift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Repetitive 3–5 second client polling exhausts cellular bandwidth and battery life while failing to provide smooth, sub-second telemetry tracking during courier transit.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Proposed Solution: Foodly Architectural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4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defRPr sz="1400" b="1">
                <a:solidFill>
                  <a:srgbClr val="C22026"/>
                </a:solidFill>
              </a:defRPr>
            </a:pPr>
            <a:r>
              <a:t>Campus Batch Delivery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Synchronizes orders destined for GL Bajaj Hostels (Block A/B, D) and Gate 2 into 15–20 min pooled arrival windows, eliminating delivery fees entirely.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FairPrice Audit Engine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Exposes dine-in vs online pricing transparency, guaranteeing zero hidden markups and saving students an average of ₹64 per order.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3716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Macro Nutrition Calculator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Dynamically evaluates caloric content, protein (g), carbohydrates, fats, and health grades (A/B/C) for all listed dishes.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3716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Unidirectional SSE Telemetry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Streams real-time driver coordinates directly to client memory with 85% less bandwidth and zero mobile polling battery drain.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13716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End-to-End System Architecture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5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Vanilla ES6+ Single Page Application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Reactive State Manager &amp; Custom Events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Google Stitch Design System &amp; CSS3 Tokens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Native EventSource SSE Client Listener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CLIENT TIER (BROWSER)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Asynchronous Express RESTful Controllers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Haversine Geodesic Distance Matrix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Campus Batch Pooling Scheduler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Scheduled Event Emitter for SSE Telemetry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411480"/>
          </a:xfrm>
          <a:prstGeom prst="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APPLICATION TIER (NODE/EXPRESS)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94360" lIns="182880" rIns="182880"/>
          <a:lstStyle/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In-Memory Fast Cache (&lt;2ms queries)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Atomic File System Sync (data.json)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Multi-index Search (Cuisines, Ratings, Diet)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Transactional Cart &amp; Order State 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PERSISTENCE TIER (ACID 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Mathematical Modeling: Geospatial Haversine &amp; Dynamic Fees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6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Spherical Haversine Geodesic Distance</a:t>
            </a:r>
          </a:p>
          <a:p>
            <a:pPr>
              <a:spcBef>
                <a:spcPts val="600"/>
              </a:spcBef>
              <a:defRPr sz="1050" b="0">
                <a:solidFill>
                  <a:srgbClr val="1E293B"/>
                </a:solidFill>
              </a:defRPr>
            </a:pPr>
            <a:r>
              <a:t>Calculates exact straight-line displacement between restaurant coordinates (φ₁, λ₁) and campus drop point (φ₂, λ₂):</a:t>
            </a:r>
          </a:p>
          <a:p>
            <a:pPr>
              <a:spcBef>
                <a:spcPts val="600"/>
              </a:spcBef>
              <a:defRPr sz="1050" b="1">
                <a:solidFill>
                  <a:srgbClr val="C22026"/>
                </a:solidFill>
              </a:defRPr>
            </a:pPr>
            <a:r>
              <a:t>a = sin²(Δφ / 2) + cos(φ₁) ⋅ cos(φ₂) ⋅ sin²(Δλ / 2)</a:t>
            </a:r>
          </a:p>
          <a:p>
            <a:pPr>
              <a:spcBef>
                <a:spcPts val="600"/>
              </a:spcBef>
              <a:defRPr sz="1050" b="1">
                <a:solidFill>
                  <a:srgbClr val="C22026"/>
                </a:solidFill>
              </a:defRPr>
            </a:pPr>
            <a:r>
              <a:t>c = 2 ⋅ atan2( √a, √(1 - a) )</a:t>
            </a:r>
          </a:p>
          <a:p>
            <a:pPr>
              <a:spcBef>
                <a:spcPts val="600"/>
              </a:spcBef>
              <a:defRPr sz="1050" b="1">
                <a:solidFill>
                  <a:srgbClr val="C22026"/>
                </a:solidFill>
              </a:defRPr>
            </a:pPr>
            <a:r>
              <a:t>d = R ⋅ c    [where R = 6,371 km Earth radius]</a:t>
            </a:r>
          </a:p>
          <a:p>
            <a:pPr>
              <a:spcBef>
                <a:spcPts val="600"/>
              </a:spcBef>
              <a:defRPr sz="1050" b="0">
                <a:solidFill>
                  <a:srgbClr val="1E293B"/>
                </a:solidFill>
              </a:defRPr>
            </a:pPr>
            <a:r>
              <a:t>Guarantees deterministic, tamper-proof distance metrics without third-party API dependencies or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Dynamic ETA &amp; Tiered Transit Fee Matrix</a:t>
            </a:r>
          </a:p>
          <a:p>
            <a:pPr>
              <a:spcBef>
                <a:spcPts val="400"/>
              </a:spcBef>
              <a:defRPr sz="1050" b="0">
                <a:solidFill>
                  <a:srgbClr val="1E293B"/>
                </a:solidFill>
              </a:defRPr>
            </a:pPr>
            <a:r>
              <a:t>• Estimated Transit Duration (Knowledge Park III):</a:t>
            </a:r>
          </a:p>
          <a:p>
            <a:pPr>
              <a:spcBef>
                <a:spcPts val="400"/>
              </a:spcBef>
              <a:defRPr sz="1050" b="1">
                <a:solidFill>
                  <a:srgbClr val="C22026"/>
                </a:solidFill>
              </a:defRPr>
            </a:pPr>
            <a:r>
              <a:t>  ETA = T_prep (15m) + (d / v_avg) * 60  [v_avg = 24 km/h]</a:t>
            </a:r>
          </a:p>
          <a:p>
            <a:pPr>
              <a:spcBef>
                <a:spcPts val="400"/>
              </a:spcBef>
              <a:defRPr sz="1050" b="0">
                <a:solidFill>
                  <a:srgbClr val="1E293B"/>
                </a:solidFill>
              </a:defRPr>
            </a:pPr>
            <a:r>
              <a:t>• Standard Dynamic Distance Delivery Fee:</a:t>
            </a:r>
          </a:p>
          <a:p>
            <a:pPr>
              <a:spcBef>
                <a:spcPts val="400"/>
              </a:spcBef>
              <a:defRPr sz="1050" b="1">
                <a:solidFill>
                  <a:srgbClr val="C22026"/>
                </a:solidFill>
              </a:defRPr>
            </a:pPr>
            <a:r>
              <a:t>  Fee = Base_Fee (₹20) + max(0, (d - 1.5 km) * ₹12/km)</a:t>
            </a:r>
          </a:p>
          <a:p>
            <a:pPr>
              <a:spcBef>
                <a:spcPts val="400"/>
              </a:spcBef>
              <a:defRPr sz="1050" b="0">
                <a:solidFill>
                  <a:srgbClr val="1E293B"/>
                </a:solidFill>
              </a:defRPr>
            </a:pPr>
            <a:r>
              <a:t>• Campus Batch Delivery Exemption: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</a:defRPr>
            </a:pPr>
            <a:r>
              <a:t>  If destination == 'GL Bajaj Hostel Block A/B/D':</a:t>
            </a:r>
          </a:p>
          <a:p>
            <a:pPr>
              <a:spcBef>
                <a:spcPts val="400"/>
              </a:spcBef>
              <a:defRPr sz="1050" b="1">
                <a:solidFill>
                  <a:srgbClr val="C22026"/>
                </a:solidFill>
              </a:defRPr>
            </a:pPr>
            <a:r>
              <a:t>  Delivery_Fee = ₹0 (100% Free Campus Drop Pool)</a:t>
            </a:r>
          </a:p>
          <a:p>
            <a:pPr>
              <a:spcBef>
                <a:spcPts val="400"/>
              </a:spcBef>
              <a:defRPr sz="1050" b="0">
                <a:solidFill>
                  <a:srgbClr val="1E293B"/>
                </a:solidFill>
              </a:defRPr>
            </a:pPr>
            <a:r>
              <a:t>• Linear Coordinate Interpolation for Live Driver Simulation:</a:t>
            </a:r>
          </a:p>
          <a:p>
            <a:pPr>
              <a:spcBef>
                <a:spcPts val="400"/>
              </a:spcBef>
              <a:defRPr sz="1050" b="1">
                <a:solidFill>
                  <a:srgbClr val="1E293B"/>
                </a:solidFill>
              </a:defRPr>
            </a:pPr>
            <a:r>
              <a:t>  Lat_curr = Lat_rest + t * (Lat_gate - Lat_rest)  [t ∈ 0..1]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Full-Stack Technology Stack &amp; Component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7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10512"/>
            <a:ext cx="2103120" cy="438912"/>
          </a:xfrm>
          <a:prstGeom prst="round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Frontend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556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Vanilla ES6+ JavaScript, CSS3 Design Tokens, HTML5 Semantic Elements, Native EventSource API (Zero external npm libraries)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24912"/>
            <a:ext cx="210312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Backend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700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Node.js (v20+ asynchronous event loop), Express.js (v4 REST micro-routing, CORS, JSON body parsers)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21031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844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Server-Sent Events (SSE: text/event-stream) for unidirectional telemetry; Standard HTTP/2 REST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553712"/>
            <a:ext cx="210312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Persistence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988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High-performance in-memory cache synchronized with atomic transactional JSON storage (data.json)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68112"/>
            <a:ext cx="210312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Dev &amp; Quality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VS Code, Git, Google Lighthouse (benchmarking), Postman (API verification), Microsoft Edge Headless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Experimental Results &amp; Performance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8 of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041855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Evaluated Operation /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Commercial Framework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Foodly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 Gain / Reduction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Initial Page Load &amp; DOM Mount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1,420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22026"/>
                          </a:solidFill>
                          <a:latin typeface="Calibri"/>
                        </a:defRPr>
                      </a:pPr>
                      <a:r>
                        <a:t>92.2% Faster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Catalog Query &amp; JSON Serialization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185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22026"/>
                          </a:solidFill>
                          <a:latin typeface="Calibri"/>
                        </a:defRPr>
                      </a:pPr>
                      <a:r>
                        <a:t>87.0% Latency 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Multi-Facet Search &amp; Diet Filtering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2 ms (Client)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22026"/>
                          </a:solidFill>
                          <a:latin typeface="Calibri"/>
                        </a:defRPr>
                      </a:pPr>
                      <a:r>
                        <a:t>96.9% Improvement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Transactional Checkout &amp; Cart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340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22026"/>
                          </a:solidFill>
                          <a:latin typeface="Calibri"/>
                        </a:defRPr>
                      </a:pPr>
                      <a:r>
                        <a:t>87.6%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Total Client JavaScript Bundle Size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11.4 MB (11,400 KB)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145 KB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22026"/>
                          </a:solidFill>
                          <a:latin typeface="Calibri"/>
                        </a:defRPr>
                      </a:pPr>
                      <a:r>
                        <a:t>98.7% Reduction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Google Lighthouse Performance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99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22026"/>
                          </a:solidFill>
                          <a:latin typeface="Calibri"/>
                        </a:defRPr>
                      </a:pPr>
                      <a:r>
                        <a:t>+ 35 Points Ahead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Visual Interface: Campus Discovery &amp; Real-Time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9 of 14</a:t>
            </a:r>
          </a:p>
        </p:txBody>
      </p:sp>
      <p:pic>
        <p:nvPicPr>
          <p:cNvPr id="5" name="Picture 4" descr="foodly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173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Fig. 1: Foodly Home Discovery &amp; Curated Restaurant Listings</a:t>
            </a:r>
          </a:p>
        </p:txBody>
      </p:sp>
      <p:pic>
        <p:nvPicPr>
          <p:cNvPr id="7" name="Picture 6" descr="foodly-search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173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760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Fig. 2: Instant Multi-Facet Dietary &amp; Price Tier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Visual Interface: Nutrition Macros &amp; Real-Time SSE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10 of 14</a:t>
            </a:r>
          </a:p>
        </p:txBody>
      </p:sp>
      <p:pic>
        <p:nvPicPr>
          <p:cNvPr id="5" name="Picture 4" descr="foodly-restaura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5547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Fig. 3: Dish Catalog with Macro Breakdowns &amp; Transparent Pricing</a:t>
            </a:r>
          </a:p>
        </p:txBody>
      </p:sp>
      <p:pic>
        <p:nvPicPr>
          <p:cNvPr id="7" name="Picture 6" descr="foodly-order-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173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760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Fig. 4: Live Coordinate Telemetry &amp; 5-Stage Order Stepper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Campus Economic Impact &amp; Sustainability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11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C22026"/>
                </a:solidFill>
              </a:defRPr>
            </a:pPr>
            <a:r>
              <a:t>₹64 Average Savings Per Order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Field testing across 50 typical orders in Knowledge Park III revealed direct savings of ₹40 (delivery fee) and ₹24 (commission markup), translating to &gt;₹1,800/month saved per student.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64592" cy="1005840"/>
          </a:xfrm>
          <a:prstGeom prst="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t>70% Drop in Gate Congestion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Consolidating individual delivery runs into synchronized 15-minute campus drop windows dramatically reduces motorcycle traffic, noise, and gate delays at GL Bajaj Gate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6459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t>Carbon Emission Curtailment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Batch pooling eliminates repetitive short-distance courier trips, cutting localized vehicular fuel burn and aligning with sustainable campus green initiatives.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6459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D97706"/>
                </a:solidFill>
              </a:defRPr>
            </a:pPr>
            <a:r>
              <a:t>Local Food Artisan Empowerment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Zero percentage-based commissions allow neighborhood kitchens and dhabas to maintain fair profit margins without inflating consumer menu rates.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74920"/>
            <a:ext cx="16459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22026"/>
                </a:solidFill>
                <a:latin typeface="Calibri"/>
              </a:defRPr>
            </a:pPr>
            <a:r>
              <a:t>B.TECH CSE MINI PROJECT PRESENTATION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Limitations &amp; Future Development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C22026"/>
          </a:solidFill>
          <a:ln>
            <a:solidFill>
              <a:srgbClr val="C2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Foodly | G.L. Bajaj Institute of Technology &amp; Management | Dept. of Computer Science &amp; Engineering       Slide 12 of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C22026"/>
                </a:solidFill>
              </a:defRPr>
            </a:pPr>
            <a:r>
              <a:t>CURRENT SYSTEM LIMITATIONS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Static Geodesic Calculations: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Haversine measures spherical great-circle distance with empirical routing factor, but lacks real-time traffic jam awareness in Greater Noida.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Single-Node Concurrency Limits: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Current atomic in-memory JSON persistence is optimized for campus clusters (up to ~5,000 concurrent users) before requiring distributed DB clustering.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Simulated Courier Interpolation: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Courier coordinates are generated via mathematical server-side interpolation rather than native mobile background GPS transceivers.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FUTURE DEVELOPMENT ROADMAP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Institutional UPI Smart Escrow: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Automates payment holding with cryptographic release upon verified student QR-code / OTP scan at gate drop-off.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IoT Smart Delivery Parcel Lockers: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Installation of solar-powered, temperature-controlled delivery lockers at GL Bajaj Gate 2 for zero-contact 24/7 parcel pickup.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Multi-Campus Federation: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Cross-institutional logistics pooling connecting GL Bajaj, Galgotias, and Sharda University into a unified student delivery network.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2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CONCLUSION &amp; SUMMARY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Foodly successfully demonstrates that high-performance, responsive on-demand logistics do not require bloated proprietary frameworks or exploitative commission models.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By combining a microscopic 145 KB Vanilla JavaScript client, mathematical Haversine routing, unidirectional Server-Sent Events, and Campus Batch Pooling, Foodly delivers sub-100ms speeds while directly saving students up to ₹64 per meal order.</a:t>
            </a:r>
          </a:p>
          <a:p>
            <a:pPr>
              <a:spcBef>
                <a:spcPts val="2500"/>
              </a:spcBef>
              <a:defRPr sz="2800" b="1">
                <a:solidFill>
                  <a:srgbClr val="D97706"/>
                </a:solidFill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Questions &amp; Feedback from the Evaluation Committee are most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